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415C79-1ED9-3B7C-CF65-9A66A7B7D790}" v="40" dt="2026-10-26T13:57:53.7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titeduvn-my.sharepoint.com/personal/phuongvnh_n26dtcn060_stu_ptit_edu_vn/Documents/Presentation%202_ColumnStacked10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0D-4F65-9CA6-A012DE91DB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0D-4F65-9CA6-A012DE91DBB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A40D-4F65-9CA6-A012DE91DB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53791248"/>
        <c:axId val="2053792208"/>
      </c:barChart>
      <c:catAx>
        <c:axId val="2053791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3792208"/>
        <c:crosses val="autoZero"/>
        <c:auto val="1"/>
        <c:lblAlgn val="ctr"/>
        <c:lblOffset val="100"/>
        <c:noMultiLvlLbl val="0"/>
      </c:catAx>
      <c:valAx>
        <c:axId val="2053792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3791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92234" y="-955818"/>
            <a:ext cx="9144000" cy="238760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ea typeface="+mj-lt"/>
                <a:cs typeface="+mj-lt"/>
              </a:rPr>
              <a:t>Doanh </a:t>
            </a:r>
            <a:r>
              <a:rPr lang="en-US" sz="3600" dirty="0" err="1">
                <a:ea typeface="+mj-lt"/>
                <a:cs typeface="+mj-lt"/>
              </a:rPr>
              <a:t>thu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tăng</a:t>
            </a:r>
            <a:r>
              <a:rPr lang="en-US" sz="3600" dirty="0">
                <a:ea typeface="+mj-lt"/>
                <a:cs typeface="+mj-lt"/>
              </a:rPr>
              <a:t> 15% </a:t>
            </a:r>
            <a:r>
              <a:rPr lang="en-US" sz="3600" dirty="0" err="1">
                <a:ea typeface="+mj-lt"/>
                <a:cs typeface="+mj-lt"/>
              </a:rPr>
              <a:t>nhờ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ưu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đãi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nạp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điện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thoại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hoàn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tiền</a:t>
            </a:r>
            <a:endParaRPr lang="en-US" sz="36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434791"/>
            <a:ext cx="9144000" cy="16557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000" i="1" dirty="0" err="1">
                <a:ea typeface="+mn-lt"/>
                <a:cs typeface="+mn-lt"/>
              </a:rPr>
              <a:t>Số</a:t>
            </a:r>
            <a:r>
              <a:rPr lang="en-US" sz="3000" i="1" dirty="0">
                <a:ea typeface="+mn-lt"/>
                <a:cs typeface="+mn-lt"/>
              </a:rPr>
              <a:t> </a:t>
            </a:r>
            <a:r>
              <a:rPr lang="en-US" sz="3000" i="1" dirty="0" err="1">
                <a:ea typeface="+mn-lt"/>
                <a:cs typeface="+mn-lt"/>
              </a:rPr>
              <a:t>lượng</a:t>
            </a:r>
            <a:r>
              <a:rPr lang="en-US" sz="3000" i="1" dirty="0">
                <a:ea typeface="+mn-lt"/>
                <a:cs typeface="+mn-lt"/>
              </a:rPr>
              <a:t> </a:t>
            </a:r>
            <a:r>
              <a:rPr lang="en-US" sz="3000" i="1" dirty="0" err="1">
                <a:ea typeface="+mn-lt"/>
                <a:cs typeface="+mn-lt"/>
              </a:rPr>
              <a:t>giao</a:t>
            </a:r>
            <a:r>
              <a:rPr lang="en-US" sz="3000" i="1" dirty="0">
                <a:ea typeface="+mn-lt"/>
                <a:cs typeface="+mn-lt"/>
              </a:rPr>
              <a:t> </a:t>
            </a:r>
            <a:r>
              <a:rPr lang="en-US" sz="3000" i="1" dirty="0" err="1">
                <a:ea typeface="+mn-lt"/>
                <a:cs typeface="+mn-lt"/>
              </a:rPr>
              <a:t>dịch</a:t>
            </a:r>
            <a:r>
              <a:rPr lang="en-US" sz="3000" i="1" dirty="0">
                <a:ea typeface="+mn-lt"/>
                <a:cs typeface="+mn-lt"/>
              </a:rPr>
              <a:t> </a:t>
            </a:r>
            <a:r>
              <a:rPr lang="en-US" sz="3000" i="1" dirty="0" err="1">
                <a:ea typeface="+mn-lt"/>
                <a:cs typeface="+mn-lt"/>
              </a:rPr>
              <a:t>sinh</a:t>
            </a:r>
            <a:r>
              <a:rPr lang="en-US" sz="3000" i="1" dirty="0">
                <a:ea typeface="+mn-lt"/>
                <a:cs typeface="+mn-lt"/>
              </a:rPr>
              <a:t> </a:t>
            </a:r>
            <a:r>
              <a:rPr lang="en-US" sz="3000" i="1" dirty="0" err="1">
                <a:ea typeface="+mn-lt"/>
                <a:cs typeface="+mn-lt"/>
              </a:rPr>
              <a:t>viên</a:t>
            </a:r>
            <a:r>
              <a:rPr lang="en-US" sz="3000" i="1" dirty="0">
                <a:ea typeface="+mn-lt"/>
                <a:cs typeface="+mn-lt"/>
              </a:rPr>
              <a:t> </a:t>
            </a:r>
            <a:r>
              <a:rPr lang="en-US" sz="3000" i="1" dirty="0" err="1">
                <a:ea typeface="+mn-lt"/>
                <a:cs typeface="+mn-lt"/>
              </a:rPr>
              <a:t>nạp</a:t>
            </a:r>
            <a:r>
              <a:rPr lang="en-US" sz="3000" i="1" dirty="0">
                <a:ea typeface="+mn-lt"/>
                <a:cs typeface="+mn-lt"/>
              </a:rPr>
              <a:t> </a:t>
            </a:r>
            <a:r>
              <a:rPr lang="en-US" sz="3000" i="1" dirty="0" err="1">
                <a:ea typeface="+mn-lt"/>
                <a:cs typeface="+mn-lt"/>
              </a:rPr>
              <a:t>thẻ</a:t>
            </a:r>
            <a:r>
              <a:rPr lang="en-US" sz="3000" i="1" dirty="0">
                <a:ea typeface="+mn-lt"/>
                <a:cs typeface="+mn-lt"/>
              </a:rPr>
              <a:t> </a:t>
            </a:r>
            <a:r>
              <a:rPr lang="en-US" sz="3000" i="1" dirty="0" err="1">
                <a:ea typeface="+mn-lt"/>
                <a:cs typeface="+mn-lt"/>
              </a:rPr>
              <a:t>mới</a:t>
            </a:r>
            <a:r>
              <a:rPr lang="en-US" sz="3000" i="1" dirty="0">
                <a:ea typeface="+mn-lt"/>
                <a:cs typeface="+mn-lt"/>
              </a:rPr>
              <a:t> </a:t>
            </a:r>
            <a:r>
              <a:rPr lang="en-US" sz="3000" i="1" dirty="0" err="1">
                <a:ea typeface="+mn-lt"/>
                <a:cs typeface="+mn-lt"/>
              </a:rPr>
              <a:t>tăng</a:t>
            </a:r>
            <a:r>
              <a:rPr lang="en-US" sz="3000" i="1" dirty="0">
                <a:ea typeface="+mn-lt"/>
                <a:cs typeface="+mn-lt"/>
              </a:rPr>
              <a:t> </a:t>
            </a:r>
            <a:r>
              <a:rPr lang="en-US" sz="3000" i="1" dirty="0" err="1">
                <a:ea typeface="+mn-lt"/>
                <a:cs typeface="+mn-lt"/>
              </a:rPr>
              <a:t>mạnh</a:t>
            </a:r>
            <a:r>
              <a:rPr lang="en-US" sz="3000" i="1" dirty="0">
                <a:ea typeface="+mn-lt"/>
                <a:cs typeface="+mn-lt"/>
              </a:rPr>
              <a:t> </a:t>
            </a:r>
            <a:r>
              <a:rPr lang="en-US" sz="3000" i="1" dirty="0" err="1">
                <a:ea typeface="+mn-lt"/>
                <a:cs typeface="+mn-lt"/>
              </a:rPr>
              <a:t>trong</a:t>
            </a:r>
            <a:r>
              <a:rPr lang="en-US" sz="3000" i="1" dirty="0">
                <a:ea typeface="+mn-lt"/>
                <a:cs typeface="+mn-lt"/>
              </a:rPr>
              <a:t> </a:t>
            </a:r>
            <a:r>
              <a:rPr lang="en-US" sz="3000" i="1" dirty="0" err="1">
                <a:ea typeface="+mn-lt"/>
                <a:cs typeface="+mn-lt"/>
              </a:rPr>
              <a:t>Tháng</a:t>
            </a:r>
            <a:r>
              <a:rPr lang="en-US" sz="3000" i="1" dirty="0">
                <a:ea typeface="+mn-lt"/>
                <a:cs typeface="+mn-lt"/>
              </a:rPr>
              <a:t> 10/2026</a:t>
            </a:r>
            <a:endParaRPr lang="en-US" sz="3000" i="1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86BA26C-449D-8F58-DFD3-60455305EB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1557800"/>
              </p:ext>
            </p:extLst>
          </p:nvPr>
        </p:nvGraphicFramePr>
        <p:xfrm>
          <a:off x="168234" y="2711491"/>
          <a:ext cx="60960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F2275DF-B436-799B-5EAD-54B929BF9E33}"/>
              </a:ext>
            </a:extLst>
          </p:cNvPr>
          <p:cNvSpPr txBox="1"/>
          <p:nvPr/>
        </p:nvSpPr>
        <p:spPr>
          <a:xfrm>
            <a:off x="6267275" y="4130073"/>
            <a:ext cx="584752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+15.2%  DOANH THU</a:t>
            </a:r>
          </a:p>
          <a:p>
            <a:r>
              <a:rPr lang="en-US">
                <a:ea typeface="+mn-lt"/>
                <a:cs typeface="+mn-lt"/>
              </a:rPr>
              <a:t>42.000 GIAO DỊCH NẠP THẺ MỚI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Doanh thu tăng 15% nhờ ưu đãi nạp điện thoại hoàn tiền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</cp:revision>
  <dcterms:created xsi:type="dcterms:W3CDTF">2026-10-26T13:49:54Z</dcterms:created>
  <dcterms:modified xsi:type="dcterms:W3CDTF">2026-10-26T13:58:01Z</dcterms:modified>
</cp:coreProperties>
</file>